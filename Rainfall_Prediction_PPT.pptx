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0AC92A-571B-49F8-AFBC-81AD0530D597}" v="111" dt="2025-09-14T15:06:53.9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0" y="78"/>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225" Type="http://schemas.microsoft.com/office/2015/10/relationships/revisionInfo" Target="revisionInfo.xml"/><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samyamalik/Rainfall-Prediction-Using-ML"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659585" y="2377559"/>
            <a:ext cx="6929931" cy="2554545"/>
          </a:xfrm>
          <a:prstGeom prst="rect">
            <a:avLst/>
          </a:prstGeom>
          <a:noFill/>
        </p:spPr>
        <p:txBody>
          <a:bodyPr wrap="square" lIns="91440" tIns="45720" rIns="91440" bIns="45720" rtlCol="0" anchor="t">
            <a:spAutoFit/>
          </a:bodyPr>
          <a:lstStyle/>
          <a:p>
            <a:pPr algn="ctr"/>
            <a:r>
              <a:rPr lang="en-IN" sz="3600" dirty="0">
                <a:solidFill>
                  <a:schemeClr val="bg1"/>
                </a:solidFill>
                <a:latin typeface="Times New Roman"/>
              </a:rPr>
              <a:t>Rainfall Predication</a:t>
            </a:r>
            <a:endParaRPr lang="en-US" sz="3600">
              <a:solidFill>
                <a:schemeClr val="bg1"/>
              </a:solidFill>
              <a:latin typeface="Times New Roman"/>
            </a:endParaRPr>
          </a:p>
          <a:p>
            <a:r>
              <a:rPr lang="en-IN" sz="2400" b="1" dirty="0">
                <a:solidFill>
                  <a:schemeClr val="bg1"/>
                </a:solidFill>
                <a:latin typeface="Times New Roman"/>
              </a:rPr>
              <a:t>Name:  Samya Malik</a:t>
            </a:r>
            <a:endParaRPr lang="en-US" sz="2400">
              <a:solidFill>
                <a:schemeClr val="bg1"/>
              </a:solidFill>
              <a:latin typeface="Times New Roman"/>
            </a:endParaRPr>
          </a:p>
          <a:p>
            <a:r>
              <a:rPr lang="en-IN" sz="2400" b="1" dirty="0">
                <a:solidFill>
                  <a:schemeClr val="bg1"/>
                </a:solidFill>
                <a:latin typeface="Times New Roman"/>
              </a:rPr>
              <a:t>AICTE Student ID: STU20241908DD699384 AICTE Internship ID: INTERNSHIP_17513641056863b20937d78</a:t>
            </a:r>
            <a:endParaRPr lang="en-IN" sz="2400">
              <a:solidFill>
                <a:schemeClr val="bg1"/>
              </a:solidFill>
              <a:latin typeface="Times New Roman"/>
            </a:endParaRPr>
          </a:p>
          <a:p>
            <a:endParaRPr lang="en-IN" sz="2800" b="1" dirty="0">
              <a:solidFill>
                <a:schemeClr val="bg1"/>
              </a:solidFill>
              <a:latin typeface="Calibri"/>
              <a:cs typeface="Times New Roman"/>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TextBox 7">
            <a:extLst>
              <a:ext uri="{FF2B5EF4-FFF2-40B4-BE49-F238E27FC236}">
                <a16:creationId xmlns:a16="http://schemas.microsoft.com/office/drawing/2014/main" id="{445C3625-AABB-B8E5-2EA3-70B244C1032D}"/>
              </a:ext>
            </a:extLst>
          </p:cNvPr>
          <p:cNvSpPr txBox="1"/>
          <p:nvPr/>
        </p:nvSpPr>
        <p:spPr>
          <a:xfrm>
            <a:off x="378046" y="1583069"/>
            <a:ext cx="5688417" cy="115563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sz="1850"/>
              <a:t>1.Understand weather data and factors affecting rainfall.</a:t>
            </a:r>
            <a:endParaRPr lang="en-US"/>
          </a:p>
          <a:p>
            <a:pPr marL="285750" indent="-285750">
              <a:buChar char="•"/>
            </a:pPr>
            <a:r>
              <a:rPr lang="en-US" sz="1850"/>
              <a:t>2.Apply data preprocessing and feature selection techniques for accurate modeling.</a:t>
            </a:r>
            <a:endParaRPr lang="en-US"/>
          </a:p>
          <a:p>
            <a:pPr marL="285750" indent="-285750">
              <a:buChar char="•"/>
            </a:pPr>
            <a:r>
              <a:rPr lang="en-US" sz="1850"/>
              <a:t>3.Develop and evaluate machine learning models to predict rainfall.</a:t>
            </a:r>
            <a:endParaRPr lang="en-US"/>
          </a:p>
          <a:p>
            <a:pPr marL="285750" indent="-285750">
              <a:buChar char="•"/>
            </a:pPr>
            <a:r>
              <a:rPr lang="en-US" sz="1850"/>
              <a:t>4.Deploy the model using Flask and integrate it with a user-friendly frontend.</a:t>
            </a:r>
            <a:endParaRPr lang="en-US"/>
          </a:p>
          <a:p>
            <a:pPr marL="285750" indent="-285750">
              <a:buChar char="•"/>
            </a:pPr>
            <a:r>
              <a:rPr lang="en-US" sz="1850"/>
              <a:t>5.Learn practical applications of rainfall prediction for decision-making in agriculture and planning.</a:t>
            </a:r>
            <a:endParaRPr lang="en-US"/>
          </a:p>
          <a:p>
            <a:pPr marL="285750" indent="-285750">
              <a:buChar char="•"/>
            </a:pPr>
            <a:endParaRPr lang="en-US"/>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pPr algn="l"/>
            <a:endParaRPr lang="en-US" sz="1850" dirty="0"/>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2" name="TextBox 1">
            <a:extLst>
              <a:ext uri="{FF2B5EF4-FFF2-40B4-BE49-F238E27FC236}">
                <a16:creationId xmlns:a16="http://schemas.microsoft.com/office/drawing/2014/main" id="{19D4C9A4-1519-6986-0170-7761D973C487}"/>
              </a:ext>
            </a:extLst>
          </p:cNvPr>
          <p:cNvSpPr txBox="1"/>
          <p:nvPr/>
        </p:nvSpPr>
        <p:spPr>
          <a:xfrm>
            <a:off x="271721" y="1653953"/>
            <a:ext cx="10939720" cy="92629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sz="1850" dirty="0"/>
              <a:t>1.</a:t>
            </a:r>
            <a:r>
              <a:rPr lang="en-US" sz="1850" b="1" dirty="0"/>
              <a:t>Programming Language:</a:t>
            </a:r>
            <a:r>
              <a:rPr lang="en-US" sz="1850" dirty="0"/>
              <a:t> Python</a:t>
            </a:r>
            <a:endParaRPr lang="en-US" dirty="0"/>
          </a:p>
          <a:p>
            <a:pPr marL="285750" indent="-285750">
              <a:buChar char="•"/>
            </a:pPr>
            <a:r>
              <a:rPr lang="en-US" sz="1850" dirty="0"/>
              <a:t>2.</a:t>
            </a:r>
            <a:r>
              <a:rPr lang="en-US" sz="1850" b="1" dirty="0"/>
              <a:t>Data Analysis &amp; Processing:</a:t>
            </a:r>
            <a:r>
              <a:rPr lang="en-US" sz="1850" dirty="0"/>
              <a:t> Pandas, NumPy</a:t>
            </a:r>
            <a:endParaRPr lang="en-US" dirty="0"/>
          </a:p>
          <a:p>
            <a:pPr marL="285750" indent="-285750">
              <a:buChar char="•"/>
            </a:pPr>
            <a:r>
              <a:rPr lang="en-US" sz="1850" dirty="0"/>
              <a:t>3.</a:t>
            </a:r>
            <a:r>
              <a:rPr lang="en-US" sz="1850" b="1" dirty="0"/>
              <a:t>Machine Learning:</a:t>
            </a:r>
            <a:r>
              <a:rPr lang="en-US" sz="1850" dirty="0"/>
              <a:t> scikit-learn (for model building, training, and evaluation)</a:t>
            </a:r>
            <a:endParaRPr lang="en-US" dirty="0"/>
          </a:p>
          <a:p>
            <a:pPr marL="285750" indent="-285750">
              <a:buChar char="•"/>
            </a:pPr>
            <a:r>
              <a:rPr lang="en-US" sz="1850" dirty="0"/>
              <a:t>4.</a:t>
            </a:r>
            <a:r>
              <a:rPr lang="en-US" sz="1850" b="1" dirty="0"/>
              <a:t>Model Serialization:</a:t>
            </a:r>
            <a:r>
              <a:rPr lang="en-US" sz="1850" dirty="0"/>
              <a:t> Pickle (for saving and loading the trained model)</a:t>
            </a:r>
            <a:endParaRPr lang="en-US" dirty="0"/>
          </a:p>
          <a:p>
            <a:pPr marL="285750" indent="-285750">
              <a:buChar char="•"/>
            </a:pPr>
            <a:r>
              <a:rPr lang="en-US" sz="1850" dirty="0"/>
              <a:t>5.</a:t>
            </a:r>
            <a:r>
              <a:rPr lang="en-US" sz="1850" b="1" dirty="0"/>
              <a:t>Web Framework / Backend:</a:t>
            </a:r>
            <a:r>
              <a:rPr lang="en-US" sz="1850" dirty="0"/>
              <a:t> Flask</a:t>
            </a:r>
            <a:endParaRPr lang="en-US" dirty="0"/>
          </a:p>
          <a:p>
            <a:pPr marL="285750" indent="-285750">
              <a:buChar char="•"/>
            </a:pPr>
            <a:r>
              <a:rPr lang="en-US" sz="1850" dirty="0"/>
              <a:t>6.</a:t>
            </a:r>
            <a:r>
              <a:rPr lang="en-US" sz="1850" b="1" dirty="0"/>
              <a:t>Frontend:</a:t>
            </a:r>
            <a:r>
              <a:rPr lang="en-US" sz="1850" dirty="0"/>
              <a:t> HTML, CSS, JavaScript (for user interface)</a:t>
            </a:r>
            <a:endParaRPr lang="en-US" dirty="0"/>
          </a:p>
          <a:p>
            <a:pPr marL="285750" indent="-285750">
              <a:buChar char="•"/>
            </a:pPr>
            <a:r>
              <a:rPr lang="en-US" sz="1850" dirty="0"/>
              <a:t>7.</a:t>
            </a:r>
            <a:r>
              <a:rPr lang="en-US" sz="1850" b="1" dirty="0"/>
              <a:t>Development Environment:</a:t>
            </a:r>
            <a:r>
              <a:rPr lang="en-US" sz="1850" dirty="0"/>
              <a:t> </a:t>
            </a:r>
            <a:r>
              <a:rPr lang="en-US" sz="1850" dirty="0" err="1"/>
              <a:t>Jupyter</a:t>
            </a:r>
            <a:r>
              <a:rPr lang="en-US" sz="1850" dirty="0"/>
              <a:t> Notebook / VS Code / Google collar</a:t>
            </a:r>
            <a:endParaRPr lang="en-US" dirty="0"/>
          </a:p>
          <a:p>
            <a:pPr marL="285750" indent="-285750">
              <a:buChar char="•"/>
            </a:pPr>
            <a:r>
              <a:rPr lang="en-US" sz="1850" dirty="0"/>
              <a:t>8.</a:t>
            </a:r>
            <a:r>
              <a:rPr lang="en-US" sz="1850" b="1" dirty="0"/>
              <a:t>Visualization :</a:t>
            </a:r>
            <a:r>
              <a:rPr lang="en-US" sz="1850" dirty="0"/>
              <a:t> Matplotlib, Seaborn (for exploring data trends)</a:t>
            </a:r>
            <a:endParaRPr lang="en-US" dirty="0"/>
          </a:p>
          <a:p>
            <a:pPr marL="285750" indent="-285750">
              <a:buChar char="•"/>
            </a:pPr>
            <a:endParaRPr lang="en-US"/>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br>
              <a:rPr lang="en-US" dirty="0"/>
            </a:br>
            <a:endParaRPr lang="en-US" dirty="0"/>
          </a:p>
          <a:p>
            <a:pPr algn="l"/>
            <a:endParaRPr lang="en-US" sz="1850" dirty="0"/>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pic>
        <p:nvPicPr>
          <p:cNvPr id="2" name="Picture 1">
            <a:extLst>
              <a:ext uri="{FF2B5EF4-FFF2-40B4-BE49-F238E27FC236}">
                <a16:creationId xmlns:a16="http://schemas.microsoft.com/office/drawing/2014/main" id="{5DE4F82F-C9DA-7446-CA0E-62B32D8353DE}"/>
              </a:ext>
            </a:extLst>
          </p:cNvPr>
          <p:cNvPicPr>
            <a:picLocks noChangeAspect="1"/>
          </p:cNvPicPr>
          <p:nvPr/>
        </p:nvPicPr>
        <p:blipFill>
          <a:blip r:embed="rId2"/>
          <a:stretch>
            <a:fillRect/>
          </a:stretch>
        </p:blipFill>
        <p:spPr>
          <a:xfrm>
            <a:off x="940918" y="1417675"/>
            <a:ext cx="5608209" cy="5269024"/>
          </a:xfrm>
          <a:prstGeom prst="rect">
            <a:avLst/>
          </a:prstGeom>
        </p:spPr>
      </p:pic>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2" name="TextBox 1">
            <a:extLst>
              <a:ext uri="{FF2B5EF4-FFF2-40B4-BE49-F238E27FC236}">
                <a16:creationId xmlns:a16="http://schemas.microsoft.com/office/drawing/2014/main" id="{56E71A89-D34D-FC3D-019D-8F4D669D19B4}"/>
              </a:ext>
            </a:extLst>
          </p:cNvPr>
          <p:cNvSpPr txBox="1"/>
          <p:nvPr/>
        </p:nvSpPr>
        <p:spPr>
          <a:xfrm>
            <a:off x="425301" y="1464930"/>
            <a:ext cx="11483163" cy="15158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50" dirty="0"/>
              <a:t>Accurate rainfall prediction is crucial for agriculture, water resource management, and disaster preparedness. Traditional methods often rely on historical averages and manual observations, which can be unreliable. The challenge is to develop a system that can predict rainfall based on multiple weather parameters—such as pressure, humidity, dew point, and cloud cover—so that timely decisions can be made.</a:t>
            </a:r>
            <a:endParaRPr lang="en-US" dirty="0"/>
          </a:p>
          <a:p>
            <a:pPr algn="l"/>
            <a:endParaRPr lang="en-US" sz="1850" dirty="0"/>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Box 1">
            <a:extLst>
              <a:ext uri="{FF2B5EF4-FFF2-40B4-BE49-F238E27FC236}">
                <a16:creationId xmlns:a16="http://schemas.microsoft.com/office/drawing/2014/main" id="{11CDD6A7-9EB6-B25E-186A-B8F2A766BBE2}"/>
              </a:ext>
            </a:extLst>
          </p:cNvPr>
          <p:cNvSpPr txBox="1"/>
          <p:nvPr/>
        </p:nvSpPr>
        <p:spPr>
          <a:xfrm>
            <a:off x="413487" y="1470837"/>
            <a:ext cx="11518605" cy="26545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50" dirty="0"/>
              <a:t>The solution is a </a:t>
            </a:r>
            <a:r>
              <a:rPr lang="en-US" sz="1850" b="1" dirty="0"/>
              <a:t>machine learning-based rainfall prediction system</a:t>
            </a:r>
            <a:r>
              <a:rPr lang="en-US" sz="1850" dirty="0"/>
              <a:t>:</a:t>
            </a:r>
            <a:endParaRPr lang="en-US"/>
          </a:p>
          <a:p>
            <a:pPr marL="285750" indent="-285750">
              <a:buChar char="•"/>
            </a:pPr>
            <a:r>
              <a:rPr lang="en-US" sz="1850" b="1" dirty="0"/>
              <a:t>Data-Driven Approach:</a:t>
            </a:r>
            <a:r>
              <a:rPr lang="en-US" sz="1850" dirty="0"/>
              <a:t> Use historical weather data as input features to train predictive models.</a:t>
            </a:r>
            <a:endParaRPr lang="en-US" dirty="0"/>
          </a:p>
          <a:p>
            <a:pPr marL="285750" indent="-285750">
              <a:buChar char="•"/>
            </a:pPr>
            <a:r>
              <a:rPr lang="en-US" sz="1850" b="1" dirty="0"/>
              <a:t>Model Development:</a:t>
            </a:r>
            <a:r>
              <a:rPr lang="en-US" sz="1850" dirty="0"/>
              <a:t> Apply machine learning algorithms (e.g., Random Forest, Linear Regression) to learn patterns and relationships between weather parameters and rainfall.</a:t>
            </a:r>
            <a:endParaRPr lang="en-US" dirty="0"/>
          </a:p>
          <a:p>
            <a:pPr marL="285750" indent="-285750">
              <a:buChar char="•"/>
            </a:pPr>
            <a:r>
              <a:rPr lang="en-US" sz="1850" b="1" dirty="0"/>
              <a:t>Prediction System:</a:t>
            </a:r>
            <a:r>
              <a:rPr lang="en-US" sz="1850" dirty="0"/>
              <a:t> Deploy the trained model using Flask so that users can input current weather conditions and receive real-time rainfall predictions.</a:t>
            </a:r>
            <a:endParaRPr lang="en-US" dirty="0"/>
          </a:p>
          <a:p>
            <a:pPr marL="285750" indent="-285750">
              <a:buChar char="•"/>
            </a:pPr>
            <a:r>
              <a:rPr lang="en-US" sz="1850" b="1" dirty="0"/>
              <a:t>Decision Support:</a:t>
            </a:r>
            <a:r>
              <a:rPr lang="en-US" sz="1850" dirty="0"/>
              <a:t> The system provides actionable insights for farmers, planners, and authorities, enabling better preparation and resource management.</a:t>
            </a:r>
            <a:endParaRPr lang="en-US" dirty="0"/>
          </a:p>
          <a:p>
            <a:pPr algn="l"/>
            <a:endParaRPr lang="en-US" sz="1850" dirty="0"/>
          </a:p>
        </p:txBody>
      </p:sp>
      <p:sp>
        <p:nvSpPr>
          <p:cNvPr id="4" name="TextBox 3">
            <a:extLst>
              <a:ext uri="{FF2B5EF4-FFF2-40B4-BE49-F238E27FC236}">
                <a16:creationId xmlns:a16="http://schemas.microsoft.com/office/drawing/2014/main" id="{28425269-6410-39B2-02D3-BEB097E2D80B}"/>
              </a:ext>
            </a:extLst>
          </p:cNvPr>
          <p:cNvSpPr txBox="1"/>
          <p:nvPr/>
        </p:nvSpPr>
        <p:spPr>
          <a:xfrm>
            <a:off x="307162" y="4631070"/>
            <a:ext cx="9049488" cy="661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50" dirty="0" err="1"/>
              <a:t>Github</a:t>
            </a:r>
            <a:r>
              <a:rPr lang="en-US" sz="1850" dirty="0"/>
              <a:t> link:  </a:t>
            </a:r>
            <a:r>
              <a:rPr lang="en-US" sz="1850" dirty="0">
                <a:hlinkClick r:id="rId2"/>
              </a:rPr>
              <a:t>https://github.com/samyamalik/Rainfall-Prediction-Using-ML</a:t>
            </a:r>
            <a:endParaRPr lang="en-US"/>
          </a:p>
          <a:p>
            <a:pPr algn="l"/>
            <a:endParaRPr lang="en-US" sz="1850" dirty="0"/>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2" name="Picture 1">
            <a:extLst>
              <a:ext uri="{FF2B5EF4-FFF2-40B4-BE49-F238E27FC236}">
                <a16:creationId xmlns:a16="http://schemas.microsoft.com/office/drawing/2014/main" id="{ADD3308B-140F-B62D-F365-4B326725EBD5}"/>
              </a:ext>
            </a:extLst>
          </p:cNvPr>
          <p:cNvPicPr>
            <a:picLocks noChangeAspect="1"/>
          </p:cNvPicPr>
          <p:nvPr/>
        </p:nvPicPr>
        <p:blipFill>
          <a:blip r:embed="rId2"/>
          <a:stretch>
            <a:fillRect/>
          </a:stretch>
        </p:blipFill>
        <p:spPr>
          <a:xfrm>
            <a:off x="1377225" y="1624419"/>
            <a:ext cx="4428435" cy="4879163"/>
          </a:xfrm>
          <a:prstGeom prst="rect">
            <a:avLst/>
          </a:prstGeom>
        </p:spPr>
      </p:pic>
      <p:pic>
        <p:nvPicPr>
          <p:cNvPr id="4" name="Picture 3">
            <a:extLst>
              <a:ext uri="{FF2B5EF4-FFF2-40B4-BE49-F238E27FC236}">
                <a16:creationId xmlns:a16="http://schemas.microsoft.com/office/drawing/2014/main" id="{AA9ECA8A-8014-D37D-E207-0228CED90C0B}"/>
              </a:ext>
            </a:extLst>
          </p:cNvPr>
          <p:cNvPicPr>
            <a:picLocks noChangeAspect="1"/>
          </p:cNvPicPr>
          <p:nvPr/>
        </p:nvPicPr>
        <p:blipFill>
          <a:blip r:embed="rId3"/>
          <a:stretch>
            <a:fillRect/>
          </a:stretch>
        </p:blipFill>
        <p:spPr>
          <a:xfrm>
            <a:off x="5994707" y="1842976"/>
            <a:ext cx="6091841" cy="3467397"/>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311BA1A1-2C23-84E9-36A8-882D334E1922}"/>
              </a:ext>
            </a:extLst>
          </p:cNvPr>
          <p:cNvSpPr txBox="1"/>
          <p:nvPr/>
        </p:nvSpPr>
        <p:spPr>
          <a:xfrm>
            <a:off x="271720" y="1594883"/>
            <a:ext cx="11400465"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50" b="1" dirty="0"/>
              <a:t>Conclusion</a:t>
            </a:r>
            <a:endParaRPr lang="en-US" dirty="0"/>
          </a:p>
          <a:p>
            <a:r>
              <a:rPr lang="en-US" sz="1850" dirty="0"/>
              <a:t>The project demonstrates how machine learning can accurately predict rainfall using weather parameters, helping in better planning and decision-making.</a:t>
            </a:r>
            <a:endParaRPr lang="en-US"/>
          </a:p>
          <a:p>
            <a:r>
              <a:rPr lang="en-US" sz="1850" b="1" dirty="0"/>
              <a:t>Future Scope</a:t>
            </a:r>
            <a:endParaRPr lang="en-US" dirty="0"/>
          </a:p>
          <a:p>
            <a:pPr marL="285750" indent="-285750">
              <a:buChar char="•"/>
            </a:pPr>
            <a:r>
              <a:rPr lang="en-US" sz="1850" dirty="0"/>
              <a:t>Incorporate real-time weather APIs for live predictions.</a:t>
            </a:r>
            <a:endParaRPr lang="en-US" dirty="0"/>
          </a:p>
          <a:p>
            <a:pPr marL="285750" indent="-285750">
              <a:buChar char="•"/>
            </a:pPr>
            <a:r>
              <a:rPr lang="en-US" sz="1850" dirty="0"/>
              <a:t>Improve accuracy using advanced models like </a:t>
            </a:r>
            <a:r>
              <a:rPr lang="en-US" sz="1850" dirty="0" err="1"/>
              <a:t>XGBoost</a:t>
            </a:r>
            <a:r>
              <a:rPr lang="en-US" sz="1850" dirty="0"/>
              <a:t> or Deep Learning.</a:t>
            </a:r>
            <a:endParaRPr lang="en-US" dirty="0"/>
          </a:p>
          <a:p>
            <a:pPr marL="285750" indent="-285750">
              <a:buChar char="•"/>
            </a:pPr>
            <a:r>
              <a:rPr lang="en-US" sz="1850" dirty="0"/>
              <a:t>Expand to regional or seasonal forecasting for broader applicability.</a:t>
            </a:r>
            <a:endParaRPr lang="en-US" dirty="0"/>
          </a:p>
          <a:p>
            <a:pPr algn="l"/>
            <a:endParaRPr lang="en-US" sz="1850" dirty="0"/>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9</TotalTime>
  <Words>31</Words>
  <Application>Microsoft Office PowerPoint</Application>
  <PresentationFormat>Widescreen</PresentationFormat>
  <Paragraphs>11</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Mahesh Kurhe</cp:lastModifiedBy>
  <cp:revision>43</cp:revision>
  <dcterms:created xsi:type="dcterms:W3CDTF">2024-12-31T09:40:01Z</dcterms:created>
  <dcterms:modified xsi:type="dcterms:W3CDTF">2025-09-14T15:07:50Z</dcterms:modified>
</cp:coreProperties>
</file>